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9" r:id="rId4"/>
    <p:sldId id="260"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58"/>
  </p:normalViewPr>
  <p:slideViewPr>
    <p:cSldViewPr snapToGrid="0">
      <p:cViewPr varScale="1">
        <p:scale>
          <a:sx n="115" d="100"/>
          <a:sy n="115" d="100"/>
        </p:scale>
        <p:origin x="6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7C4486-9BF5-2F42-86FC-48E7D60ACFDC}" type="datetimeFigureOut">
              <a:rPr lang="en-US" smtClean="0"/>
              <a:t>2/16/26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A6306-06F5-1D47-9DEC-CC2D27A4BCA4}" type="slidenum">
              <a:rPr lang="en-US" smtClean="0"/>
              <a:t>‹#›</a:t>
            </a:fld>
            <a:endParaRPr lang="en-US"/>
          </a:p>
        </p:txBody>
      </p:sp>
    </p:spTree>
    <p:extLst>
      <p:ext uri="{BB962C8B-B14F-4D97-AF65-F5344CB8AC3E}">
        <p14:creationId xmlns:p14="http://schemas.microsoft.com/office/powerpoint/2010/main" val="3885239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0A6306-06F5-1D47-9DEC-CC2D27A4BCA4}" type="slidenum">
              <a:rPr lang="en-US" smtClean="0"/>
              <a:t>3</a:t>
            </a:fld>
            <a:endParaRPr lang="en-US"/>
          </a:p>
        </p:txBody>
      </p:sp>
    </p:spTree>
    <p:extLst>
      <p:ext uri="{BB962C8B-B14F-4D97-AF65-F5344CB8AC3E}">
        <p14:creationId xmlns:p14="http://schemas.microsoft.com/office/powerpoint/2010/main" val="3616269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BEA2-B121-8384-26A7-734504AA0D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9606D7-28EB-4CAC-F7FC-1EA27EC80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F9D14A-7048-294B-C07E-4D6D13447C60}"/>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5" name="Footer Placeholder 4">
            <a:extLst>
              <a:ext uri="{FF2B5EF4-FFF2-40B4-BE49-F238E27FC236}">
                <a16:creationId xmlns:a16="http://schemas.microsoft.com/office/drawing/2014/main" id="{0CE54DDF-AABA-9493-373F-8EC4151FF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1EBDC-7482-2934-6836-06AF7187676B}"/>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2577023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84416-D827-6732-1ABF-B078863FBA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B12EC3-6A64-C4CC-34D8-C60758CB2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55479-1DF8-E6DB-6CEA-D86CDBD9FF9A}"/>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5" name="Footer Placeholder 4">
            <a:extLst>
              <a:ext uri="{FF2B5EF4-FFF2-40B4-BE49-F238E27FC236}">
                <a16:creationId xmlns:a16="http://schemas.microsoft.com/office/drawing/2014/main" id="{33395B16-9ED3-8A64-7DD8-ABFCEFBA6C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1D887-538E-C4D4-2D12-DA3453CA9179}"/>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1170954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8479-1FCE-D1CB-DC2F-B0B56E1B8E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196C5-98D2-92F6-3760-001537A7CA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BE4E6D-DD3B-967B-0027-037E10881F00}"/>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5" name="Footer Placeholder 4">
            <a:extLst>
              <a:ext uri="{FF2B5EF4-FFF2-40B4-BE49-F238E27FC236}">
                <a16:creationId xmlns:a16="http://schemas.microsoft.com/office/drawing/2014/main" id="{D90068A1-4836-0383-AB23-310A696C8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A5065-63BF-AF11-C741-1A16F8FF077E}"/>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3616344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9ABD-DABE-E5F5-F856-0E853D2203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EA0B7B-D4EC-6E2F-CAFC-C0F1F8953C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69C77F-3B02-5B2B-B29D-0AAC776825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149E29-987E-A121-D6FB-98197287886B}"/>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6" name="Footer Placeholder 5">
            <a:extLst>
              <a:ext uri="{FF2B5EF4-FFF2-40B4-BE49-F238E27FC236}">
                <a16:creationId xmlns:a16="http://schemas.microsoft.com/office/drawing/2014/main" id="{ECCAC953-C0D7-5A10-60E2-20CB4183A9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ACB021-B4B8-A8F6-0420-2B597E0C18F9}"/>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1837245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CF8B2-D26F-49F4-B7E1-3D1847FAC4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94036A-2A26-0FEA-33DD-9D9DB7D398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89A3F5-870B-81CC-3A83-943487B9C1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DBFC7D-D24B-D634-4BE8-0BB59BF569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4B60BA-EB7A-FC32-34FA-179984A400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D2106-7F10-B7C0-3CEA-4B7229EB812B}"/>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8" name="Footer Placeholder 7">
            <a:extLst>
              <a:ext uri="{FF2B5EF4-FFF2-40B4-BE49-F238E27FC236}">
                <a16:creationId xmlns:a16="http://schemas.microsoft.com/office/drawing/2014/main" id="{A77A9545-43FF-D4E0-3DE3-A10EA04F60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360FA6-0A06-1111-93C5-741F815BAA2E}"/>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339496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F93AB-C8CF-8AA3-14F4-7C5271DC72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55A63B-5DED-8872-D915-02F599CC1072}"/>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4" name="Footer Placeholder 3">
            <a:extLst>
              <a:ext uri="{FF2B5EF4-FFF2-40B4-BE49-F238E27FC236}">
                <a16:creationId xmlns:a16="http://schemas.microsoft.com/office/drawing/2014/main" id="{3249213A-36C7-1A15-7810-6E9ACD4BFA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F50D5C-F216-C38D-8AF2-57821562FFED}"/>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925149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7075F3-4CC6-BAEB-4CEA-E4A998D91ADA}"/>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3" name="Footer Placeholder 2">
            <a:extLst>
              <a:ext uri="{FF2B5EF4-FFF2-40B4-BE49-F238E27FC236}">
                <a16:creationId xmlns:a16="http://schemas.microsoft.com/office/drawing/2014/main" id="{6730D45C-3809-7F11-C2F6-5C8C9E5F58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4B0361-E316-E253-6DFA-82B875754B67}"/>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2629677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69239-EAC1-A5EE-6DD3-EF85C7059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F0A8E9-DD0F-BF59-FEF4-1BD351390E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4FC399-9AC0-6F62-F08C-A7C8460DB5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140F6F-7EBC-7BB8-76FA-7DC2007F6D8B}"/>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6" name="Footer Placeholder 5">
            <a:extLst>
              <a:ext uri="{FF2B5EF4-FFF2-40B4-BE49-F238E27FC236}">
                <a16:creationId xmlns:a16="http://schemas.microsoft.com/office/drawing/2014/main" id="{23E049BF-8A10-AB3B-4CD7-67551FFF33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AF02C-4886-6A82-FF49-3FE95C411D0D}"/>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216874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C680-3F91-D6DB-B4AB-545BDE98A5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020BB3-2899-179D-1FD8-87423E16BF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BEFE97-1FE6-759B-ABE2-3E1AE7743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665A7F-E181-6C7B-F28C-54607F1DA824}"/>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6" name="Footer Placeholder 5">
            <a:extLst>
              <a:ext uri="{FF2B5EF4-FFF2-40B4-BE49-F238E27FC236}">
                <a16:creationId xmlns:a16="http://schemas.microsoft.com/office/drawing/2014/main" id="{5B9896EA-03E4-0144-A53A-F6BA887F6E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ED1BFB-75E0-2D45-9C1E-690FBBBBACA1}"/>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1378704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8E61A-7AAF-4B74-C648-D7E444D765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6D21A0-C658-54CF-ADD5-D002208A8A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8E5F0D-4503-1DAF-CD7B-296F1D4C93BA}"/>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5" name="Footer Placeholder 4">
            <a:extLst>
              <a:ext uri="{FF2B5EF4-FFF2-40B4-BE49-F238E27FC236}">
                <a16:creationId xmlns:a16="http://schemas.microsoft.com/office/drawing/2014/main" id="{9533F936-6486-FE18-301D-5458FA3E90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4029E1-571B-80BD-3595-BE1FAFDBAB1F}"/>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1143434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65AC7C-E3DB-DE2A-6998-C33A548CC1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BDF27D-7D12-3C7B-9148-849C12BBF8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8D86C3-B89D-AB7D-866A-7068FB746CC1}"/>
              </a:ext>
            </a:extLst>
          </p:cNvPr>
          <p:cNvSpPr>
            <a:spLocks noGrp="1"/>
          </p:cNvSpPr>
          <p:nvPr>
            <p:ph type="dt" sz="half" idx="10"/>
          </p:nvPr>
        </p:nvSpPr>
        <p:spPr/>
        <p:txBody>
          <a:bodyPr/>
          <a:lstStyle/>
          <a:p>
            <a:fld id="{DCE035E1-F631-9B4A-B35A-6C4CC6E8DF17}" type="datetimeFigureOut">
              <a:rPr lang="en-US" smtClean="0"/>
              <a:t>2/16/26</a:t>
            </a:fld>
            <a:endParaRPr lang="en-US"/>
          </a:p>
        </p:txBody>
      </p:sp>
      <p:sp>
        <p:nvSpPr>
          <p:cNvPr id="5" name="Footer Placeholder 4">
            <a:extLst>
              <a:ext uri="{FF2B5EF4-FFF2-40B4-BE49-F238E27FC236}">
                <a16:creationId xmlns:a16="http://schemas.microsoft.com/office/drawing/2014/main" id="{DC87A7FB-ADB7-88FE-3E26-98230F11B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DB455F-6675-CD2F-539D-CB4644FC4984}"/>
              </a:ext>
            </a:extLst>
          </p:cNvPr>
          <p:cNvSpPr>
            <a:spLocks noGrp="1"/>
          </p:cNvSpPr>
          <p:nvPr>
            <p:ph type="sldNum" sz="quarter" idx="12"/>
          </p:nvPr>
        </p:nvSpPr>
        <p:spPr/>
        <p:txBody>
          <a:bodyPr/>
          <a:lstStyle/>
          <a:p>
            <a:fld id="{1881E4E6-471C-E644-9300-662498038753}" type="slidenum">
              <a:rPr lang="en-US" smtClean="0"/>
              <a:t>‹#›</a:t>
            </a:fld>
            <a:endParaRPr lang="en-US"/>
          </a:p>
        </p:txBody>
      </p:sp>
    </p:spTree>
    <p:extLst>
      <p:ext uri="{BB962C8B-B14F-4D97-AF65-F5344CB8AC3E}">
        <p14:creationId xmlns:p14="http://schemas.microsoft.com/office/powerpoint/2010/main" val="306691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092A9-54A5-4FE0-DAC4-81CD8E849B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B323BA-D240-E3A9-7A73-B0EF9D1941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09546-BD9F-20FF-0459-D69A96CFA2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E035E1-F631-9B4A-B35A-6C4CC6E8DF17}" type="datetimeFigureOut">
              <a:rPr lang="en-US" smtClean="0"/>
              <a:t>2/16/26</a:t>
            </a:fld>
            <a:endParaRPr lang="en-US"/>
          </a:p>
        </p:txBody>
      </p:sp>
      <p:sp>
        <p:nvSpPr>
          <p:cNvPr id="5" name="Footer Placeholder 4">
            <a:extLst>
              <a:ext uri="{FF2B5EF4-FFF2-40B4-BE49-F238E27FC236}">
                <a16:creationId xmlns:a16="http://schemas.microsoft.com/office/drawing/2014/main" id="{B956683C-C9F2-8097-AF58-589F7BA51D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27D9E5-32A1-44F9-34EF-3B4006BBE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81E4E6-471C-E644-9300-662498038753}" type="slidenum">
              <a:rPr lang="en-US" smtClean="0"/>
              <a:t>‹#›</a:t>
            </a:fld>
            <a:endParaRPr lang="en-US"/>
          </a:p>
        </p:txBody>
      </p:sp>
    </p:spTree>
    <p:extLst>
      <p:ext uri="{BB962C8B-B14F-4D97-AF65-F5344CB8AC3E}">
        <p14:creationId xmlns:p14="http://schemas.microsoft.com/office/powerpoint/2010/main" val="1226293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7D7A02-907B-496F-BA7E-AA3780733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BA5268-0AE7-4CAD-9537-D0EB09E76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8D065B-39DA-4077-B9CF-E489CE4C0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B4B26-313A-F87C-73C0-E4F67A10E841}"/>
              </a:ext>
            </a:extLst>
          </p:cNvPr>
          <p:cNvSpPr>
            <a:spLocks noGrp="1"/>
          </p:cNvSpPr>
          <p:nvPr>
            <p:ph type="ctrTitle"/>
          </p:nvPr>
        </p:nvSpPr>
        <p:spPr>
          <a:xfrm>
            <a:off x="2659529" y="2085788"/>
            <a:ext cx="6884895" cy="1496649"/>
          </a:xfrm>
        </p:spPr>
        <p:txBody>
          <a:bodyPr anchor="b">
            <a:normAutofit/>
          </a:bodyPr>
          <a:lstStyle/>
          <a:p>
            <a:r>
              <a:rPr lang="en-US" sz="6600" dirty="0">
                <a:solidFill>
                  <a:schemeClr val="tx1">
                    <a:lumMod val="65000"/>
                    <a:lumOff val="35000"/>
                  </a:schemeClr>
                </a:solidFill>
              </a:rPr>
              <a:t>Group 5 Check-In</a:t>
            </a:r>
          </a:p>
        </p:txBody>
      </p:sp>
      <p:sp>
        <p:nvSpPr>
          <p:cNvPr id="3" name="Subtitle 2">
            <a:extLst>
              <a:ext uri="{FF2B5EF4-FFF2-40B4-BE49-F238E27FC236}">
                <a16:creationId xmlns:a16="http://schemas.microsoft.com/office/drawing/2014/main" id="{6CDFE78C-47EC-A1E1-38B3-8EC2F6A4EF5F}"/>
              </a:ext>
            </a:extLst>
          </p:cNvPr>
          <p:cNvSpPr>
            <a:spLocks noGrp="1"/>
          </p:cNvSpPr>
          <p:nvPr>
            <p:ph type="subTitle" idx="1"/>
          </p:nvPr>
        </p:nvSpPr>
        <p:spPr>
          <a:xfrm>
            <a:off x="3048000" y="3948056"/>
            <a:ext cx="6096000" cy="830134"/>
          </a:xfrm>
        </p:spPr>
        <p:txBody>
          <a:bodyPr anchor="t">
            <a:normAutofit/>
          </a:bodyPr>
          <a:lstStyle/>
          <a:p>
            <a:r>
              <a:rPr lang="en-US" sz="3000" dirty="0">
                <a:solidFill>
                  <a:schemeClr val="tx1">
                    <a:lumMod val="65000"/>
                    <a:lumOff val="35000"/>
                  </a:schemeClr>
                </a:solidFill>
              </a:rPr>
              <a:t>Maze Solving in Python</a:t>
            </a:r>
          </a:p>
        </p:txBody>
      </p:sp>
    </p:spTree>
    <p:extLst>
      <p:ext uri="{BB962C8B-B14F-4D97-AF65-F5344CB8AC3E}">
        <p14:creationId xmlns:p14="http://schemas.microsoft.com/office/powerpoint/2010/main" val="409963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5800"/>
            <a:ext cx="5421703"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ECD8A3-9F6B-7E3E-D57C-6DABF1C73649}"/>
              </a:ext>
            </a:extLst>
          </p:cNvPr>
          <p:cNvSpPr>
            <a:spLocks noGrp="1"/>
          </p:cNvSpPr>
          <p:nvPr>
            <p:ph type="title"/>
          </p:nvPr>
        </p:nvSpPr>
        <p:spPr>
          <a:xfrm>
            <a:off x="1668426" y="1254763"/>
            <a:ext cx="3444948" cy="2481729"/>
          </a:xfrm>
        </p:spPr>
        <p:txBody>
          <a:bodyPr vert="horz" lIns="91440" tIns="45720" rIns="91440" bIns="45720" rtlCol="0" anchor="b">
            <a:normAutofit/>
          </a:bodyPr>
          <a:lstStyle/>
          <a:p>
            <a:pPr algn="ctr"/>
            <a:r>
              <a:rPr lang="en-US" sz="3200" dirty="0">
                <a:solidFill>
                  <a:srgbClr val="595959"/>
                </a:solidFill>
              </a:rPr>
              <a:t>Loading MAZE_0 into a Python script</a:t>
            </a:r>
          </a:p>
        </p:txBody>
      </p:sp>
      <p:sp>
        <p:nvSpPr>
          <p:cNvPr id="6" name="TextBox 5">
            <a:extLst>
              <a:ext uri="{FF2B5EF4-FFF2-40B4-BE49-F238E27FC236}">
                <a16:creationId xmlns:a16="http://schemas.microsoft.com/office/drawing/2014/main" id="{015B3250-95D4-EF2E-8366-126DCD82734F}"/>
              </a:ext>
            </a:extLst>
          </p:cNvPr>
          <p:cNvSpPr txBox="1"/>
          <p:nvPr/>
        </p:nvSpPr>
        <p:spPr>
          <a:xfrm>
            <a:off x="1849179" y="4046453"/>
            <a:ext cx="3083442" cy="1785506"/>
          </a:xfrm>
          <a:prstGeom prst="rect">
            <a:avLst/>
          </a:prstGeom>
        </p:spPr>
        <p:txBody>
          <a:bodyPr vert="horz" lIns="91440" tIns="45720" rIns="91440" bIns="45720" rtlCol="0" anchor="t">
            <a:normAutofit/>
          </a:bodyPr>
          <a:lstStyle/>
          <a:p>
            <a:pPr algn="ctr">
              <a:lnSpc>
                <a:spcPct val="90000"/>
              </a:lnSpc>
              <a:spcBef>
                <a:spcPts val="1000"/>
              </a:spcBef>
            </a:pPr>
            <a:r>
              <a:rPr lang="en-US" sz="1400" dirty="0">
                <a:solidFill>
                  <a:srgbClr val="595959"/>
                </a:solidFill>
              </a:rPr>
              <a:t>- We will solve this Maze by loading it into Python and having it generate the solution for us to view. </a:t>
            </a:r>
          </a:p>
        </p:txBody>
      </p:sp>
      <p:pic>
        <p:nvPicPr>
          <p:cNvPr id="5" name="Content Placeholder 4" descr="A maze with a white background&#10;&#10;AI-generated content may be incorrect.">
            <a:extLst>
              <a:ext uri="{FF2B5EF4-FFF2-40B4-BE49-F238E27FC236}">
                <a16:creationId xmlns:a16="http://schemas.microsoft.com/office/drawing/2014/main" id="{B9DA0D61-384E-25F3-A065-B7E496D02703}"/>
              </a:ext>
            </a:extLst>
          </p:cNvPr>
          <p:cNvPicPr>
            <a:picLocks noGrp="1" noChangeAspect="1"/>
          </p:cNvPicPr>
          <p:nvPr>
            <p:ph idx="1"/>
          </p:nvPr>
        </p:nvPicPr>
        <p:blipFill>
          <a:blip r:embed="rId2"/>
          <a:srcRect r="1382" b="-7"/>
          <a:stretch>
            <a:fillRect/>
          </a:stretch>
        </p:blipFill>
        <p:spPr>
          <a:xfrm>
            <a:off x="6107503" y="685799"/>
            <a:ext cx="5410200" cy="5486400"/>
          </a:xfrm>
          <a:prstGeom prst="rect">
            <a:avLst/>
          </a:prstGeom>
        </p:spPr>
      </p:pic>
    </p:spTree>
    <p:extLst>
      <p:ext uri="{BB962C8B-B14F-4D97-AF65-F5344CB8AC3E}">
        <p14:creationId xmlns:p14="http://schemas.microsoft.com/office/powerpoint/2010/main" val="54256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0C1566-1DCC-EE17-B681-B3A853A414D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7D7A02-907B-496F-BA7E-AA3780733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BA5268-0AE7-4CAD-9537-D0EB09E76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8D065B-39DA-4077-B9CF-E489CE4C0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screen shot of a computer&#10;&#10;AI-generated content may be incorrect.">
            <a:extLst>
              <a:ext uri="{FF2B5EF4-FFF2-40B4-BE49-F238E27FC236}">
                <a16:creationId xmlns:a16="http://schemas.microsoft.com/office/drawing/2014/main" id="{23124181-212A-6C2D-9732-0275EE338517}"/>
              </a:ext>
            </a:extLst>
          </p:cNvPr>
          <p:cNvPicPr>
            <a:picLocks noChangeAspect="1"/>
          </p:cNvPicPr>
          <p:nvPr/>
        </p:nvPicPr>
        <p:blipFill>
          <a:blip r:embed="rId3"/>
          <a:srcRect l="11620" t="3664" r="11138" b="61438"/>
          <a:stretch>
            <a:fillRect/>
          </a:stretch>
        </p:blipFill>
        <p:spPr>
          <a:xfrm>
            <a:off x="1463526" y="3"/>
            <a:ext cx="3090411" cy="6857999"/>
          </a:xfrm>
          <a:prstGeom prst="rect">
            <a:avLst/>
          </a:prstGeom>
        </p:spPr>
      </p:pic>
      <p:pic>
        <p:nvPicPr>
          <p:cNvPr id="14" name="Picture 13" descr="A screen shot of a computer&#10;&#10;AI-generated content may be incorrect.">
            <a:extLst>
              <a:ext uri="{FF2B5EF4-FFF2-40B4-BE49-F238E27FC236}">
                <a16:creationId xmlns:a16="http://schemas.microsoft.com/office/drawing/2014/main" id="{2C7EAE49-BDD5-98F7-8849-01B3F2FC10BE}"/>
              </a:ext>
            </a:extLst>
          </p:cNvPr>
          <p:cNvPicPr>
            <a:picLocks noChangeAspect="1"/>
          </p:cNvPicPr>
          <p:nvPr/>
        </p:nvPicPr>
        <p:blipFill>
          <a:blip r:embed="rId3"/>
          <a:srcRect l="11620" t="35345" r="11138" b="29757"/>
          <a:stretch>
            <a:fillRect/>
          </a:stretch>
        </p:blipFill>
        <p:spPr>
          <a:xfrm>
            <a:off x="4553937" y="2"/>
            <a:ext cx="3090411" cy="6857999"/>
          </a:xfrm>
          <a:prstGeom prst="rect">
            <a:avLst/>
          </a:prstGeom>
        </p:spPr>
      </p:pic>
      <p:pic>
        <p:nvPicPr>
          <p:cNvPr id="16" name="Picture 15" descr="A screen shot of a computer&#10;&#10;AI-generated content may be incorrect.">
            <a:extLst>
              <a:ext uri="{FF2B5EF4-FFF2-40B4-BE49-F238E27FC236}">
                <a16:creationId xmlns:a16="http://schemas.microsoft.com/office/drawing/2014/main" id="{B3588D72-D16F-268E-F5DC-310433B5C281}"/>
              </a:ext>
            </a:extLst>
          </p:cNvPr>
          <p:cNvPicPr>
            <a:picLocks noChangeAspect="1"/>
          </p:cNvPicPr>
          <p:nvPr/>
        </p:nvPicPr>
        <p:blipFill>
          <a:blip r:embed="rId3"/>
          <a:srcRect l="11620" t="62750" r="11138" b="2352"/>
          <a:stretch>
            <a:fillRect/>
          </a:stretch>
        </p:blipFill>
        <p:spPr>
          <a:xfrm>
            <a:off x="7644348" y="0"/>
            <a:ext cx="3090411" cy="6858000"/>
          </a:xfrm>
          <a:prstGeom prst="rect">
            <a:avLst/>
          </a:prstGeom>
        </p:spPr>
      </p:pic>
    </p:spTree>
    <p:extLst>
      <p:ext uri="{BB962C8B-B14F-4D97-AF65-F5344CB8AC3E}">
        <p14:creationId xmlns:p14="http://schemas.microsoft.com/office/powerpoint/2010/main" val="582797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D1EC24-FAC8-603E-C546-97EFB91F1BF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217623-64D5-2ED2-8A94-F8B7F7937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88548D-5272-482D-4D9C-D336FFA70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E40BF81-C2C2-C071-7AD7-46166D2D0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4DE91C7-393A-9CE0-178D-47839AA840AE}"/>
              </a:ext>
            </a:extLst>
          </p:cNvPr>
          <p:cNvSpPr txBox="1"/>
          <p:nvPr/>
        </p:nvSpPr>
        <p:spPr>
          <a:xfrm>
            <a:off x="4898717" y="101025"/>
            <a:ext cx="2394566" cy="584775"/>
          </a:xfrm>
          <a:prstGeom prst="rect">
            <a:avLst/>
          </a:prstGeom>
          <a:noFill/>
        </p:spPr>
        <p:txBody>
          <a:bodyPr wrap="none" rtlCol="0">
            <a:spAutoFit/>
          </a:bodyPr>
          <a:lstStyle/>
          <a:p>
            <a:r>
              <a:rPr lang="en-US" sz="3200" dirty="0"/>
              <a:t>Solved Maze</a:t>
            </a:r>
          </a:p>
        </p:txBody>
      </p:sp>
      <p:pic>
        <p:nvPicPr>
          <p:cNvPr id="4" name="Picture 3" descr="A maze with a red line&#10;&#10;AI-generated content may be incorrect.">
            <a:extLst>
              <a:ext uri="{FF2B5EF4-FFF2-40B4-BE49-F238E27FC236}">
                <a16:creationId xmlns:a16="http://schemas.microsoft.com/office/drawing/2014/main" id="{51B49013-1C1B-4B5E-A00B-50FF57E2B451}"/>
              </a:ext>
            </a:extLst>
          </p:cNvPr>
          <p:cNvPicPr>
            <a:picLocks noChangeAspect="1"/>
          </p:cNvPicPr>
          <p:nvPr/>
        </p:nvPicPr>
        <p:blipFill>
          <a:blip r:embed="rId2"/>
          <a:stretch>
            <a:fillRect/>
          </a:stretch>
        </p:blipFill>
        <p:spPr>
          <a:xfrm>
            <a:off x="3485589" y="818589"/>
            <a:ext cx="5220821" cy="5220821"/>
          </a:xfrm>
          <a:prstGeom prst="rect">
            <a:avLst/>
          </a:prstGeom>
        </p:spPr>
      </p:pic>
    </p:spTree>
    <p:extLst>
      <p:ext uri="{BB962C8B-B14F-4D97-AF65-F5344CB8AC3E}">
        <p14:creationId xmlns:p14="http://schemas.microsoft.com/office/powerpoint/2010/main" val="1278652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22F76C-95C2-EDF1-458C-DEC4E2DF1A4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4FB375E-A340-F43C-6941-8406A3566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A26697-9B8C-D9BD-66C5-124F2559A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00EF6B-1998-48B8-5CEA-55BD55A7A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2FA28D5-2927-F2E9-3C1C-A788777EA8E7}"/>
              </a:ext>
            </a:extLst>
          </p:cNvPr>
          <p:cNvSpPr txBox="1"/>
          <p:nvPr/>
        </p:nvSpPr>
        <p:spPr>
          <a:xfrm>
            <a:off x="4360126" y="857622"/>
            <a:ext cx="7019692" cy="5142755"/>
          </a:xfrm>
          <a:prstGeom prst="rect">
            <a:avLst/>
          </a:prstGeom>
          <a:noFill/>
        </p:spPr>
        <p:txBody>
          <a:bodyPr wrap="square">
            <a:spAutoFit/>
          </a:bodyPr>
          <a:lstStyle/>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Maze Notes:</a:t>
            </a:r>
            <a:br>
              <a:rPr lang="en-US" sz="1200" kern="100" dirty="0">
                <a:effectLst/>
                <a:latin typeface="Aptos" panose="020B0004020202020204" pitchFamily="34" charset="0"/>
                <a:ea typeface="Yu Gothic" panose="020B0400000000000000" pitchFamily="34" charset="-128"/>
                <a:cs typeface="Times New Roman" panose="02020603050405020304" pitchFamily="18" charset="0"/>
              </a:rPr>
            </a:br>
            <a:br>
              <a:rPr lang="en-US" sz="1200" kern="100" dirty="0">
                <a:effectLst/>
                <a:latin typeface="Aptos" panose="020B0004020202020204" pitchFamily="34" charset="0"/>
                <a:ea typeface="Yu Gothic" panose="020B0400000000000000" pitchFamily="34" charset="-128"/>
                <a:cs typeface="Times New Roman" panose="02020603050405020304" pitchFamily="18" charset="0"/>
              </a:rPr>
            </a:b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Why am I using Breadth First Search instead of A*(A-star) Search?</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Breadth First Search simply works with the Maze images provided.</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Pros: It guarantees to find the shortest path possible by moving in all directions equally form the start.</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Cons: However, it can be “blind” as in spending more time exploring dead ends as since it will explore everything, it needs to read everything even if the “exit/goal” is close.</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It’s good for this Maze since it isn’t that big, but for bigger Mazes much larger than this, A* can be better.</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 </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A* Search </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It acts like Breadth First Search, but calculates the distance already travelled plus an estimate on how much farther it needs to travel to meet the “goal.” (Heuristic function)</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Pros: It focuses on paths that seem like that are heading towards the exit. This means it doesn’t have to search everything like BFS, meaning we save more memory on a good case scenario.</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Cons: It’s more complex to code since it requires a priority queue, and if our heuristic function is bad, then it might not be able to estimate the shortest path thus causing high memory, or similar memory to BFS than it would if it were better.</a:t>
            </a:r>
          </a:p>
          <a:p>
            <a:pPr marL="0" marR="0">
              <a:lnSpc>
                <a:spcPct val="115000"/>
              </a:lnSpc>
              <a:spcAft>
                <a:spcPts val="800"/>
              </a:spcAft>
              <a:buNone/>
            </a:pPr>
            <a:r>
              <a:rPr lang="en-US" sz="1200" kern="100" dirty="0">
                <a:effectLst/>
                <a:latin typeface="Aptos" panose="020B0004020202020204" pitchFamily="34" charset="0"/>
                <a:ea typeface="Yu Gothic" panose="020B0400000000000000" pitchFamily="34" charset="-128"/>
                <a:cs typeface="Times New Roman" panose="02020603050405020304" pitchFamily="18" charset="0"/>
              </a:rPr>
              <a:t>This is usually good for High resolution images or real time games since those take up a lot of memory IF you were to just straight up use BFS.</a:t>
            </a:r>
          </a:p>
        </p:txBody>
      </p:sp>
      <p:sp>
        <p:nvSpPr>
          <p:cNvPr id="13" name="Title 1">
            <a:extLst>
              <a:ext uri="{FF2B5EF4-FFF2-40B4-BE49-F238E27FC236}">
                <a16:creationId xmlns:a16="http://schemas.microsoft.com/office/drawing/2014/main" id="{951689B8-2909-7310-CA1A-68066F09C2BF}"/>
              </a:ext>
            </a:extLst>
          </p:cNvPr>
          <p:cNvSpPr txBox="1">
            <a:spLocks/>
          </p:cNvSpPr>
          <p:nvPr/>
        </p:nvSpPr>
        <p:spPr>
          <a:xfrm>
            <a:off x="981307" y="2766217"/>
            <a:ext cx="3083312" cy="1325563"/>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Misc: Maze Notes</a:t>
            </a:r>
          </a:p>
        </p:txBody>
      </p:sp>
    </p:spTree>
    <p:extLst>
      <p:ext uri="{BB962C8B-B14F-4D97-AF65-F5344CB8AC3E}">
        <p14:creationId xmlns:p14="http://schemas.microsoft.com/office/powerpoint/2010/main" val="391561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319</Words>
  <Application>Microsoft Macintosh PowerPoint</Application>
  <PresentationFormat>Widescreen</PresentationFormat>
  <Paragraphs>18</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Group 5 Check-In</vt:lpstr>
      <vt:lpstr>Loading MAZE_0 into a Python script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Pineda, Phillip Lloyd</dc:creator>
  <cp:lastModifiedBy>Pineda, Phillip Lloyd</cp:lastModifiedBy>
  <cp:revision>5</cp:revision>
  <dcterms:created xsi:type="dcterms:W3CDTF">2026-02-16T19:02:30Z</dcterms:created>
  <dcterms:modified xsi:type="dcterms:W3CDTF">2026-02-16T21:11:31Z</dcterms:modified>
</cp:coreProperties>
</file>